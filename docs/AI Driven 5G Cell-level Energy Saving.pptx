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5" r:id="rId4"/>
  </p:sldMasterIdLst>
  <p:sldIdLst>
    <p:sldId id="343" r:id="rId5"/>
    <p:sldId id="359" r:id="rId6"/>
    <p:sldId id="357" r:id="rId7"/>
    <p:sldId id="257" r:id="rId8"/>
    <p:sldId id="284" r:id="rId9"/>
    <p:sldId id="283" r:id="rId10"/>
    <p:sldId id="354" r:id="rId11"/>
    <p:sldId id="358" r:id="rId12"/>
    <p:sldId id="342" r:id="rId13"/>
    <p:sldId id="353" r:id="rId14"/>
    <p:sldId id="355" r:id="rId15"/>
    <p:sldId id="360" r:id="rId16"/>
    <p:sldId id="367" r:id="rId17"/>
    <p:sldId id="361" r:id="rId18"/>
    <p:sldId id="368" r:id="rId19"/>
    <p:sldId id="362" r:id="rId20"/>
    <p:sldId id="363" r:id="rId21"/>
    <p:sldId id="364" r:id="rId22"/>
    <p:sldId id="365" r:id="rId23"/>
    <p:sldId id="366" r:id="rId24"/>
    <p:sldId id="369" r:id="rId25"/>
    <p:sldId id="35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FF7"/>
    <a:srgbClr val="D0D1D9"/>
    <a:srgbClr val="F6F9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FD953-D27A-4DC6-BF77-5D9931E47A0F}" v="23" dt="2026-02-28T11:34:01.518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34" autoAdjust="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5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4217870" y="0"/>
            <a:ext cx="3599236" cy="68579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707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240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">
            <a:extLst>
              <a:ext uri="{FF2B5EF4-FFF2-40B4-BE49-F238E27FC236}">
                <a16:creationId xmlns:a16="http://schemas.microsoft.com/office/drawing/2014/main" id="{64248D99-2B30-464D-B9B7-4E5C3A1F3FB2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3FAFF55B-FDE6-394B-A39B-22627D8FB6E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9E345E4-E77C-484E-9FBB-E4EC71F08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322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83ACCAC0-2C8A-CE43-8C55-22BB53C73920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4076461-FF7A-8843-B7F9-D041F3FB2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39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8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29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754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754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17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418493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>
                <a:solidFill>
                  <a:schemeClr val="tx1"/>
                </a:solidFill>
              </a:defRPr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918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942871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973589"/>
            <a:ext cx="5711810" cy="3941540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21039"/>
            <a:ext cx="4589130" cy="5603086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310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03250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38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2/28/2026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36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75" r:id="rId3"/>
    <p:sldLayoutId id="2147483684" r:id="rId4"/>
    <p:sldLayoutId id="2147483678" r:id="rId5"/>
    <p:sldLayoutId id="2147483688" r:id="rId6"/>
    <p:sldLayoutId id="2147483679" r:id="rId7"/>
    <p:sldLayoutId id="2147483692" r:id="rId8"/>
    <p:sldLayoutId id="2147483691" r:id="rId9"/>
    <p:sldLayoutId id="2147483690" r:id="rId10"/>
    <p:sldLayoutId id="2147483689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2352484725003506#:~:text=Data%20availability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netop/5G-Network-Energy-Consumption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singhua-fib-lab/NetData" TargetMode="External"/><Relationship Id="rId2" Type="http://schemas.openxmlformats.org/officeDocument/2006/relationships/hyperlink" Target="https://www.kaggle.com/datasets/nadiatriki/5g-energy-consumption-dataset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AEFB0-51F2-5449-996C-73382891D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AI Driven 4G/5G Cell-level energy saving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Kritadhi Chakraborty (PES2PGE24DS091)</a:t>
            </a:r>
          </a:p>
          <a:p>
            <a:r>
              <a:rPr lang="en-US" dirty="0" err="1"/>
              <a:t>M.Tech</a:t>
            </a:r>
            <a:r>
              <a:rPr lang="en-US" dirty="0"/>
              <a:t>. DSAI, Sem. 4, thesis phase1</a:t>
            </a:r>
          </a:p>
        </p:txBody>
      </p:sp>
    </p:spTree>
    <p:extLst>
      <p:ext uri="{BB962C8B-B14F-4D97-AF65-F5344CB8AC3E}">
        <p14:creationId xmlns:p14="http://schemas.microsoft.com/office/powerpoint/2010/main" val="18333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27992-8971-776A-D4FB-F9445B62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99C6-034A-6CCF-BE0E-FFEF75B6D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Guidance call 1</a:t>
            </a:r>
          </a:p>
        </p:txBody>
      </p:sp>
    </p:spTree>
    <p:extLst>
      <p:ext uri="{BB962C8B-B14F-4D97-AF65-F5344CB8AC3E}">
        <p14:creationId xmlns:p14="http://schemas.microsoft.com/office/powerpoint/2010/main" val="333518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2467" y="1971413"/>
            <a:ext cx="9548447" cy="4219662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Kritadhi Chakraborty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Rakuten Symphony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Distinguished Member of Technical Staff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Exp: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21+ yrs.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Wireless telecommunication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Wireless technology architect with 21 years of experience in designing and delivering RAN solutions across WCDMA, LTE, and 5G. Proven expertise in translating 3GPP specifications into deployment-grade products across diverse hardware platforms. From transformation to Open RAN architectures, including innovation through SON / RIC.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 of AI/ML-based solutions to enhance RAN intelligence and automation.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177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5BA9AC8-EA60-644D-9DDA-B76203EA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E7591AD-81F4-2E45-AE36-F4DA40C190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Literature Survey</a:t>
            </a:r>
          </a:p>
          <a:p>
            <a:r>
              <a:rPr lang="en-US" dirty="0"/>
              <a:t>Datasets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27689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753" y="1971413"/>
            <a:ext cx="5616108" cy="421966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cost is one of the largest operating expenses (OPEX) for telecom operators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Cell-level energy-saving schemes are typically applied for maximum gain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current cell-level energy-saving mechanism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Operations &amp; Maintenance (OAM) detects a lowly loaded cell (in terms of PRB usage and the number of connected users) and shuts it down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operator may do it manually or set a timer for periodic shutdown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Drawbacks of the current mechanism: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relies on the current traffic load without considering future traffic load or other factors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result in deterioration of Energy Efficiency in the network because the future load is not considered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861" y="1720441"/>
            <a:ext cx="4558962" cy="2360803"/>
          </a:xfrm>
          <a:prstGeom prst="rect">
            <a:avLst/>
          </a:prstGeom>
        </p:spPr>
      </p:pic>
      <p:sp>
        <p:nvSpPr>
          <p:cNvPr id="54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 txBox="1">
            <a:spLocks/>
          </p:cNvSpPr>
          <p:nvPr/>
        </p:nvSpPr>
        <p:spPr>
          <a:xfrm>
            <a:off x="7540794" y="4748169"/>
            <a:ext cx="3775955" cy="1278542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spc="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5G networks are more energy efficient than their 4G predecessors... [but] in fact, a recent study estimated that the 5G system would see a 160% increase in power requirements by 2030.</a:t>
            </a:r>
            <a:r>
              <a:rPr lang="en-US" i="1" spc="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— AT&amp;T</a:t>
            </a:r>
            <a:endParaRPr lang="en-US" i="1" spc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35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9E9EE2C-A105-614C-A133-EF7DF2AD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7" y="887807"/>
            <a:ext cx="10058400" cy="587584"/>
          </a:xfrm>
        </p:spPr>
        <p:txBody>
          <a:bodyPr/>
          <a:lstStyle/>
          <a:p>
            <a:r>
              <a:rPr lang="en-US" b="1" dirty="0"/>
              <a:t>Literature survey [28 papers]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2346"/>
              </p:ext>
            </p:extLst>
          </p:nvPr>
        </p:nvGraphicFramePr>
        <p:xfrm>
          <a:off x="771197" y="1475391"/>
          <a:ext cx="5394712" cy="4615017"/>
        </p:xfrm>
        <a:graphic>
          <a:graphicData uri="http://schemas.openxmlformats.org/drawingml/2006/table">
            <a:tbl>
              <a:tblPr/>
              <a:tblGrid>
                <a:gridCol w="1248936">
                  <a:extLst>
                    <a:ext uri="{9D8B030D-6E8A-4147-A177-3AD203B41FA5}">
                      <a16:colId xmlns:a16="http://schemas.microsoft.com/office/drawing/2014/main" val="108839783"/>
                    </a:ext>
                  </a:extLst>
                </a:gridCol>
                <a:gridCol w="1053396">
                  <a:extLst>
                    <a:ext uri="{9D8B030D-6E8A-4147-A177-3AD203B41FA5}">
                      <a16:colId xmlns:a16="http://schemas.microsoft.com/office/drawing/2014/main" val="170533661"/>
                    </a:ext>
                  </a:extLst>
                </a:gridCol>
                <a:gridCol w="619737">
                  <a:extLst>
                    <a:ext uri="{9D8B030D-6E8A-4147-A177-3AD203B41FA5}">
                      <a16:colId xmlns:a16="http://schemas.microsoft.com/office/drawing/2014/main" val="288247195"/>
                    </a:ext>
                  </a:extLst>
                </a:gridCol>
                <a:gridCol w="561391">
                  <a:extLst>
                    <a:ext uri="{9D8B030D-6E8A-4147-A177-3AD203B41FA5}">
                      <a16:colId xmlns:a16="http://schemas.microsoft.com/office/drawing/2014/main" val="496669427"/>
                    </a:ext>
                  </a:extLst>
                </a:gridCol>
                <a:gridCol w="517236">
                  <a:extLst>
                    <a:ext uri="{9D8B030D-6E8A-4147-A177-3AD203B41FA5}">
                      <a16:colId xmlns:a16="http://schemas.microsoft.com/office/drawing/2014/main" val="714395430"/>
                    </a:ext>
                  </a:extLst>
                </a:gridCol>
                <a:gridCol w="656008">
                  <a:extLst>
                    <a:ext uri="{9D8B030D-6E8A-4147-A177-3AD203B41FA5}">
                      <a16:colId xmlns:a16="http://schemas.microsoft.com/office/drawing/2014/main" val="36026511"/>
                    </a:ext>
                  </a:extLst>
                </a:gridCol>
                <a:gridCol w="738008">
                  <a:extLst>
                    <a:ext uri="{9D8B030D-6E8A-4147-A177-3AD203B41FA5}">
                      <a16:colId xmlns:a16="http://schemas.microsoft.com/office/drawing/2014/main" val="411740247"/>
                    </a:ext>
                  </a:extLst>
                </a:gridCol>
              </a:tblGrid>
              <a:tr h="8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Article Title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Authors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Published Date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Link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Code Available?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Available?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978853"/>
                  </a:ext>
                </a:extLst>
              </a:tr>
              <a:tr h="2598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Evaluation of the power-saving effect of 5G base station based on AI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Yuan Fang; Sheng Zhang; Feng Gao; Yao Cen; Xinte Qi; Ao Shen; Yunlong Liu; Jifeng Lv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May-25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ACM (ICCIP 2024 Conference Proceedings)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10.1145/3708657.3708673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254992"/>
                  </a:ext>
                </a:extLst>
              </a:tr>
              <a:tr h="272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Enhancing energy efficiency in 5G networks through AI-driven dynamic discontinuous reception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Hammad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Lazrek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Hassan El 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Ferindi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Mohammed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Zouiten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Aniss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Moumen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 Oct 2025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Discover Computing (Springer, Open Access)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10.1007/s10791-025-09765-1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(code repository provided)[1][2]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(used MONROE dataset)[3][4]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091483"/>
                  </a:ext>
                </a:extLst>
              </a:tr>
              <a:tr h="2631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Framework for User Traffic Prediction and Resource Allocation in 5G Networks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Ioannis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Konstantoulas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Iliana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Loi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Dimosthenis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Tsimas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Kyriakos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Sgarbas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Apostolos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Gkamas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Christos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Bouras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 July 2025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Applied Sciences (MDPI) 15(13): 7603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10.3390/app15137603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359898"/>
                  </a:ext>
                </a:extLst>
              </a:tr>
              <a:tr h="5197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Energy‑Efficient Resource Allocation in 5G Wireless Networks using Asynchronous Advantage Actor–Critic based RL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 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Padmakala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D. 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Manasa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Spandhana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Y. M.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Mahaboob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John; Ammar H. 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Shnain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S. E. […]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Sept 2024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IEEE ICDSCNC 2024 Conference (Proc. Distributed Systems, Networks &amp; Cybersecurity)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10.1109/ICDSCNC62492.2024.10941677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125090"/>
                  </a:ext>
                </a:extLst>
              </a:tr>
              <a:tr h="3410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Spectral efficiency enhancement and energy optimization in 5G networks via stochastic optimization-inspired modified slime mould algorithm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Vijayasankar Anumala; Fayaz A. Shaik; P. V. Kalluru; et al.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 Oct 2024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5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Int. J. Information </a:t>
                      </a:r>
                      <a:r>
                        <a:rPr lang="fr-FR" sz="5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Technology</a:t>
                      </a:r>
                      <a:r>
                        <a:rPr lang="fr-FR" sz="5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30: 3441–3454 (2024)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10.1007/s41870-024-02209-x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441670"/>
                  </a:ext>
                </a:extLst>
              </a:tr>
              <a:tr h="3930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 ultra energy-saving mechanism based on beacon signals for 6G networks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Ailin Deng; Xiaoqian Li; Gang Feng; Lu Guan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 2025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Communications and Networks 11(5): 1330–1342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10.1016/j.dcan.2025.05.005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875655"/>
                  </a:ext>
                </a:extLst>
              </a:tr>
              <a:tr h="272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Toward hyper-adaptive AI-enabled 6G networks for energy efficiency: techniques, classifications and tradeoffs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Mariem Zayene; Oussama Habachi; Gérard Chalhoub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Nov 2025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 preprint (arXiv:2511.16296)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</a:t>
                      </a:r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2511.16296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751553"/>
                  </a:ext>
                </a:extLst>
              </a:tr>
              <a:tr h="3410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Dynamic Multi-Sleeping Control with Diverse Quality-of-Service Requirements in Sixth-Generation Networks Using Federated Learning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Tianzhu Pan; Xuanli Wu; Xuesong Li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 Jan 2024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Electronics (MDPI) 13(3): 549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10.3390/electronics13030549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752246"/>
                  </a:ext>
                </a:extLst>
              </a:tr>
              <a:tr h="272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Deep Learning-Based Traffic-Aware Base Station Sleep Mode and Cell Zooming Strategy in RIS-Aided Multi-Cell Networks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Shuo Sun; Chong Huang; Gaojie Chen; Pei Xiao; Rahim Tafazolli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 Dec 2024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 preprint (arXiv:2412.18983)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arXiv: 2412.18983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738482"/>
                  </a:ext>
                </a:extLst>
              </a:tr>
              <a:tr h="3410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Dynamic Hierarchical Reinforcement Learning Framework for Energy-Efficient 5G Base Stations in Urban Environments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Dianlei Xu; Xiang Su; Gopika Premsankar; Huandong Wang; Sasu Tarkoma; Pan Hui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Jan 2025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IEEE Trans. on Mobile Computing (early access)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10.1109/TMC.2025.3557280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75900"/>
                  </a:ext>
                </a:extLst>
              </a:tr>
              <a:tr h="3410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Optimizing resource allocation in 5G wireless networks for enhanced spectral efficiency and energy conservation using machine learning methods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P. Periyathambi; G. Ravi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 June 2024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Signal, Image and Video Processing 18: 4961–4977 (2024)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10.1007/s11760-024-03159-4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(no dataset used)[5][6]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131786"/>
                  </a:ext>
                </a:extLst>
              </a:tr>
              <a:tr h="5197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Deep RL for Sleep Control in 5G and Beyond RAN: An Overview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Nessrine Trabelsi; Rihab Maaloul; Lamia Chaari Fourati; Wael Jaafar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May 2024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IEEE IWCMC 2024 – 20th Int’l Wireless Comm. &amp; Mobile Computing Conf.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10.1109/IWCMC61514.2024.10592464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615435"/>
                  </a:ext>
                </a:extLst>
              </a:tr>
              <a:tr h="3930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Energy-saving control strategy for ultra-dense network base stations based on multi-agent reinforcement learning</a:t>
                      </a:r>
                    </a:p>
                  </a:txBody>
                  <a:tcPr marL="2654" marR="2654" marT="2654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Yan Zhen; Litianyi Tao; Dapeng Wu; Tong Tang; Ruyan Wang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Aug 2025 (online Jan 2026)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Communications and Networks 11(4): 1007–1017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10.1016/j.dcan.2024.10.015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2654" marR="2654" marT="2654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3945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707918"/>
              </p:ext>
            </p:extLst>
          </p:nvPr>
        </p:nvGraphicFramePr>
        <p:xfrm>
          <a:off x="6249549" y="1007985"/>
          <a:ext cx="5232214" cy="5082423"/>
        </p:xfrm>
        <a:graphic>
          <a:graphicData uri="http://schemas.openxmlformats.org/drawingml/2006/table">
            <a:tbl>
              <a:tblPr/>
              <a:tblGrid>
                <a:gridCol w="1211316">
                  <a:extLst>
                    <a:ext uri="{9D8B030D-6E8A-4147-A177-3AD203B41FA5}">
                      <a16:colId xmlns:a16="http://schemas.microsoft.com/office/drawing/2014/main" val="1108846117"/>
                    </a:ext>
                  </a:extLst>
                </a:gridCol>
                <a:gridCol w="1021665">
                  <a:extLst>
                    <a:ext uri="{9D8B030D-6E8A-4147-A177-3AD203B41FA5}">
                      <a16:colId xmlns:a16="http://schemas.microsoft.com/office/drawing/2014/main" val="3025913713"/>
                    </a:ext>
                  </a:extLst>
                </a:gridCol>
                <a:gridCol w="601070">
                  <a:extLst>
                    <a:ext uri="{9D8B030D-6E8A-4147-A177-3AD203B41FA5}">
                      <a16:colId xmlns:a16="http://schemas.microsoft.com/office/drawing/2014/main" val="3179606781"/>
                    </a:ext>
                  </a:extLst>
                </a:gridCol>
                <a:gridCol w="544481">
                  <a:extLst>
                    <a:ext uri="{9D8B030D-6E8A-4147-A177-3AD203B41FA5}">
                      <a16:colId xmlns:a16="http://schemas.microsoft.com/office/drawing/2014/main" val="4262496569"/>
                    </a:ext>
                  </a:extLst>
                </a:gridCol>
                <a:gridCol w="501657">
                  <a:extLst>
                    <a:ext uri="{9D8B030D-6E8A-4147-A177-3AD203B41FA5}">
                      <a16:colId xmlns:a16="http://schemas.microsoft.com/office/drawing/2014/main" val="1113699978"/>
                    </a:ext>
                  </a:extLst>
                </a:gridCol>
                <a:gridCol w="636247">
                  <a:extLst>
                    <a:ext uri="{9D8B030D-6E8A-4147-A177-3AD203B41FA5}">
                      <a16:colId xmlns:a16="http://schemas.microsoft.com/office/drawing/2014/main" val="1064511317"/>
                    </a:ext>
                  </a:extLst>
                </a:gridCol>
                <a:gridCol w="715778">
                  <a:extLst>
                    <a:ext uri="{9D8B030D-6E8A-4147-A177-3AD203B41FA5}">
                      <a16:colId xmlns:a16="http://schemas.microsoft.com/office/drawing/2014/main" val="3484745371"/>
                    </a:ext>
                  </a:extLst>
                </a:gridCol>
              </a:tblGrid>
              <a:tr h="3659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AI-driven 5G-IoT optimization: Q-learning for real-time energy and network resource management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Bavethra Murthy; Palani Uthirapathy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 Mar 2026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Expert Systems with Applications 298(A): 129619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10.1016/j.eswa.2025.129619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116845"/>
                  </a:ext>
                </a:extLst>
              </a:tr>
              <a:tr h="3006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Cooperative Sleep and Energy-Sharing Strategy for a Heterogeneous 5G Base Station Microgrid System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Ming Yan; Tuanfa Qin; Wenhao Guo; Yongle Hu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 Mar 2025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Energies (MDPI) 18(7): 1580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10.3390/en18071580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497261"/>
                  </a:ext>
                </a:extLst>
              </a:tr>
              <a:tr h="3006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Green O-RAN Operation: a Modern ML-Driven Network Energy Consumption Optimisation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Xuanyu Liang; Ahmed Al-Tahmeesschi; Swarna Chetty; Hamed Ahmadi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 2025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 preprint (arXiv:2512.07006)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arXiv: 2512.07006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089287"/>
                  </a:ext>
                </a:extLst>
              </a:tr>
              <a:tr h="2934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Sustainable Connections: Exploring Energy Efficiency in 5G Networks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Yibo Ma; Tong Li; Yuwei Du; Schahram Dustdar; Zhi Wang; Yong Li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 Dec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CoNEXT ’24 – 20th Int’l Conf. on Emerging Networking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10.1145/3680121.3697806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243536"/>
                  </a:ext>
                </a:extLst>
              </a:tr>
              <a:tr h="4384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 Intelligent Energy Saving Strategy Recommendation Method of 5G Base Station Based on GBDT+FM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Tiantian Lv; Qiong Sun; Le Zhang; Yanqin Wu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Sept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IEEE MASS 2024 – 21st Int’l Conf. on Mobile Ad-Hoc and Smart Systems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10.1109/MASS62177.2024.00082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170270"/>
                  </a:ext>
                </a:extLst>
              </a:tr>
              <a:tr h="2255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ML-Based Resource Allocation Scheme for Energy Optimization in 5G NR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Xiao Yao; Antonio P. Yuste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 Aug 2025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Sensors (MDPI) 25(16): 4978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10.3390/s25164978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882"/>
                  </a:ext>
                </a:extLst>
              </a:tr>
              <a:tr h="2255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Energy-Efficient BWP Configuration for Multi-Slice Users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Joe Saad; Kinda Khawam; Mohamad Yassin; Salvatore Costanzo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 Feb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Sensors (MDPI) 24(4): 1281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10.3390/s24041281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838536"/>
                  </a:ext>
                </a:extLst>
              </a:tr>
              <a:tr h="2934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Comprehensive Survey of Energy Saving Techniques in 5G RAN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Xiao Yao; Antonio P. Yuste; Junyuan Wang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 Oct 2025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TechRxiv preprint (IEEE)**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TechRxiv: doi:10.36227/techrxiv.24080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253211"/>
                  </a:ext>
                </a:extLst>
              </a:tr>
              <a:tr h="3659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When AI meets sustainable 6G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Xiaohu You; Yongming Huang; Cheng Zhang; Jiaheng Wang; Hao Yin; Hequan Wu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 Dec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 China Information Sciences 68(2025): 110301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10.1007/s11432-024-4257-6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097276"/>
                  </a:ext>
                </a:extLst>
              </a:tr>
              <a:tr h="2934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Optimal energy-saving operation strategy of 5G base station with communication caching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Chunguang Lu; Jiaying Wang; Junzhe Huang; Tao Xiao; Lei Yan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 2025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Energy Reports (Elsevier) 14: 343–351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10.1016/j.egyr.2025.05.068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hlinkClick r:id="rId2"/>
                        </a:rPr>
                        <a:t>No (not shared)[7]</a:t>
                      </a:r>
                      <a:endParaRPr lang="en-US" sz="5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hlinkClick r:id="rId2"/>
                        </a:rPr>
                        <a:t>No (not shared)[7]</a:t>
                      </a:r>
                      <a:endParaRPr lang="en-US" sz="5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239113"/>
                  </a:ext>
                </a:extLst>
              </a:tr>
              <a:tr h="2934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Threshold-based 5G NR base station management for energy saving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Greta Vallero; Michela Meo; Wout Joseph; Margot Deruyck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 2025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 Networks (Elsevier) 259: 111070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10.1016/j.comnet.2025.111070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35048"/>
                  </a:ext>
                </a:extLst>
              </a:tr>
              <a:tr h="3006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Deep RL for base station switching scheme with federated LSTM-based traffic predictions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Hyebin Park; Seung Hyun Yoon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June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i-FI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ETRI Journal 46(3): 379–391 (2024)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10.4218/etrij.2023-0065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140080"/>
                  </a:ext>
                </a:extLst>
              </a:tr>
              <a:tr h="3659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Evaluation of Deep Reinforcement Learning for Energy Saving in Open RAN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Matteo Bordin; Andrea Lacava; Michele Polese; Sai Satish; Manoj A. Nittoor; Rajarajan Sivaraj; Francesca Cuomo; Tommaso Melodia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 Oct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 preprint (arXiv:2410.14021)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arXiv: 2410.14021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155272"/>
                  </a:ext>
                </a:extLst>
              </a:tr>
              <a:tr h="2255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Variational Optimization for Sustainable Massive MIMO Base Station Switching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Aida Al-Samawi; Liyth Nissirat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 Jan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Sensors (MDPI) 24(2): 520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DOI: 10.3390/s24020520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473365"/>
                  </a:ext>
                </a:extLst>
              </a:tr>
              <a:tr h="2255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Twin Backed Closed-Loops for Energy-Aware and Open RAN-based FWA</a:t>
                      </a:r>
                    </a:p>
                  </a:txBody>
                  <a:tcPr marL="3011" marR="3011" marT="3011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Anselme Ndikumana; Kim Khoa Nguyen; et al.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Nov 2024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 preprint (arXiv:2411.05664)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arXiv: 2411.05664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clear from the document</a:t>
                      </a:r>
                    </a:p>
                  </a:txBody>
                  <a:tcPr marL="3011" marR="3011" marT="3011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70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40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9E9EE2C-A105-614C-A133-EF7DF2AD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7" y="887807"/>
            <a:ext cx="10058400" cy="587584"/>
          </a:xfrm>
        </p:spPr>
        <p:txBody>
          <a:bodyPr/>
          <a:lstStyle/>
          <a:p>
            <a:r>
              <a:rPr lang="en-US" b="1" dirty="0"/>
              <a:t>Datasets [1/2]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822"/>
              </p:ext>
            </p:extLst>
          </p:nvPr>
        </p:nvGraphicFramePr>
        <p:xfrm>
          <a:off x="864466" y="1376779"/>
          <a:ext cx="10463067" cy="474312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635612">
                  <a:extLst>
                    <a:ext uri="{9D8B030D-6E8A-4147-A177-3AD203B41FA5}">
                      <a16:colId xmlns:a16="http://schemas.microsoft.com/office/drawing/2014/main" val="2069381775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3942785244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748736589"/>
                    </a:ext>
                  </a:extLst>
                </a:gridCol>
                <a:gridCol w="708212">
                  <a:extLst>
                    <a:ext uri="{9D8B030D-6E8A-4147-A177-3AD203B41FA5}">
                      <a16:colId xmlns:a16="http://schemas.microsoft.com/office/drawing/2014/main" val="221180147"/>
                    </a:ext>
                  </a:extLst>
                </a:gridCol>
                <a:gridCol w="4007223">
                  <a:extLst>
                    <a:ext uri="{9D8B030D-6E8A-4147-A177-3AD203B41FA5}">
                      <a16:colId xmlns:a16="http://schemas.microsoft.com/office/drawing/2014/main" val="2783752917"/>
                    </a:ext>
                  </a:extLst>
                </a:gridCol>
                <a:gridCol w="3695597">
                  <a:extLst>
                    <a:ext uri="{9D8B030D-6E8A-4147-A177-3AD203B41FA5}">
                      <a16:colId xmlns:a16="http://schemas.microsoft.com/office/drawing/2014/main" val="1006257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Dataset / Paper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Type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Network Focus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Publicly Available?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Notes / Link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extLst>
                  <a:ext uri="{0D108BD9-81ED-4DB2-BD59-A6C34878D82A}">
                    <a16:rowId xmlns:a16="http://schemas.microsoft.com/office/drawing/2014/main" val="279136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</a:t>
                      </a: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Real measurement dataset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5G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effectLst/>
                        </a:rPr>
                        <a:t>Yes (Gated)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</a:rPr>
                        <a:t>5G Network Energy Consumption Dataset (Netop) </a:t>
                      </a:r>
                      <a:r>
                        <a:rPr lang="en-US" sz="1000" u="none" strike="noStrike" dirty="0">
                          <a:effectLst/>
                          <a:hlinkClick r:id="rId2"/>
                        </a:rPr>
                        <a:t>https://huggingface.co/datasets/netop/5G-Network-Energy-Consumption</a:t>
                      </a:r>
                      <a:endParaRPr lang="en-US" sz="1000" u="none" strike="noStrike" dirty="0">
                        <a:effectLst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u="none" strike="noStrike" dirty="0">
                        <a:effectLst/>
                      </a:endParaRPr>
                    </a:p>
                    <a:p>
                      <a:r>
                        <a:rPr lang="en-US" sz="1000" dirty="0"/>
                        <a:t>This dataset provides normalized real-world measurements of energy consumption and operational data from a large-scale 5G network deployment. It includes eight days of measurements collected from more than 1,000 RRU/AAUs, covering 12 different hardware products.</a:t>
                      </a:r>
                    </a:p>
                    <a:p>
                      <a:r>
                        <a:rPr lang="en-US" sz="1000" dirty="0"/>
                        <a:t>The dataset is intended to support research in energy-efficient mobile networks, network optimization, and data-driven modeling of 5G systems.</a:t>
                      </a:r>
                      <a:br>
                        <a:rPr lang="en-US" sz="1000" dirty="0"/>
                      </a:br>
                      <a:br>
                        <a:rPr lang="en-US" sz="1000" dirty="0"/>
                      </a:br>
                      <a:r>
                        <a:rPr lang="en-US" sz="1000" b="1" dirty="0"/>
                        <a:t>Dataset Structure</a:t>
                      </a:r>
                    </a:p>
                    <a:p>
                      <a:r>
                        <a:rPr lang="en-US" sz="1000" dirty="0"/>
                        <a:t>The dataset is organized into three main CSV files: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b="1" dirty="0"/>
                        <a:t>1. BSinfo.csv – Base Station Basic Information</a:t>
                      </a:r>
                    </a:p>
                    <a:p>
                      <a:r>
                        <a:rPr lang="en-US" sz="1000" dirty="0"/>
                        <a:t>Contains static information about the deployed base stations and their cells.</a:t>
                      </a:r>
                    </a:p>
                    <a:p>
                      <a:r>
                        <a:rPr lang="en-US" sz="1000" dirty="0"/>
                        <a:t>Fields:</a:t>
                      </a:r>
                    </a:p>
                    <a:p>
                      <a:r>
                        <a:rPr lang="en-US" sz="1000" dirty="0"/>
                        <a:t>BS: Identifier of the base station</a:t>
                      </a:r>
                    </a:p>
                    <a:p>
                      <a:r>
                        <a:rPr lang="en-US" sz="1000" dirty="0" err="1"/>
                        <a:t>CellName</a:t>
                      </a:r>
                      <a:r>
                        <a:rPr lang="en-US" sz="1000" dirty="0"/>
                        <a:t>: Cell identifier (multiple cells can be configured per BS, named </a:t>
                      </a:r>
                      <a:r>
                        <a:rPr lang="en-US" sz="1000" dirty="0" err="1"/>
                        <a:t>CellX</a:t>
                      </a:r>
                      <a:r>
                        <a:rPr lang="en-US" sz="1000" dirty="0"/>
                        <a:t>)</a:t>
                      </a:r>
                    </a:p>
                    <a:p>
                      <a:r>
                        <a:rPr lang="en-US" sz="1000" dirty="0" err="1"/>
                        <a:t>RUType</a:t>
                      </a:r>
                      <a:r>
                        <a:rPr lang="en-US" sz="1000" dirty="0"/>
                        <a:t>: Radio unit product name</a:t>
                      </a:r>
                    </a:p>
                    <a:p>
                      <a:r>
                        <a:rPr lang="en-US" sz="1000" dirty="0"/>
                        <a:t>Mode: Transmission mode</a:t>
                      </a:r>
                    </a:p>
                    <a:p>
                      <a:r>
                        <a:rPr lang="en-US" sz="1000" dirty="0"/>
                        <a:t>Bandwidth: Normalized cell bandwidth</a:t>
                      </a:r>
                    </a:p>
                    <a:p>
                      <a:r>
                        <a:rPr lang="en-US" sz="1000" dirty="0"/>
                        <a:t>Frequency: Normalized cell frequency</a:t>
                      </a:r>
                    </a:p>
                    <a:p>
                      <a:r>
                        <a:rPr lang="en-US" sz="1000" dirty="0"/>
                        <a:t>Antennas: Number of antennas</a:t>
                      </a:r>
                    </a:p>
                    <a:p>
                      <a:r>
                        <a:rPr lang="en-US" sz="1000" dirty="0" err="1"/>
                        <a:t>TXpower</a:t>
                      </a:r>
                      <a:r>
                        <a:rPr lang="en-US" sz="1000" dirty="0"/>
                        <a:t>: Maximum transmit power of the cell</a:t>
                      </a:r>
                    </a:p>
                  </a:txBody>
                  <a:tcPr marL="9360" marR="9360" marT="9360" marB="0"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2. CLstat.csv – Cell-Level Statistics</a:t>
                      </a:r>
                    </a:p>
                    <a:p>
                      <a:r>
                        <a:rPr lang="en-US" sz="1000" dirty="0"/>
                        <a:t>Contains hourly counters describing the operational status of each cell.</a:t>
                      </a:r>
                    </a:p>
                    <a:p>
                      <a:r>
                        <a:rPr lang="en-US" sz="1000" dirty="0"/>
                        <a:t>Fields:</a:t>
                      </a:r>
                    </a:p>
                    <a:p>
                      <a:r>
                        <a:rPr lang="en-US" sz="1000" dirty="0"/>
                        <a:t>Time: Timestamp of the measurement</a:t>
                      </a:r>
                    </a:p>
                    <a:p>
                      <a:r>
                        <a:rPr lang="en-US" sz="1000" dirty="0"/>
                        <a:t>BS: Identifier of the base station</a:t>
                      </a:r>
                    </a:p>
                    <a:p>
                      <a:r>
                        <a:rPr lang="en-US" sz="1000" dirty="0" err="1"/>
                        <a:t>CellName</a:t>
                      </a:r>
                      <a:r>
                        <a:rPr lang="en-US" sz="1000" dirty="0"/>
                        <a:t>: Cell identifier</a:t>
                      </a:r>
                    </a:p>
                    <a:p>
                      <a:r>
                        <a:rPr lang="en-US" sz="1000" dirty="0"/>
                        <a:t>Load: Load of the cell (share of used resources)</a:t>
                      </a:r>
                    </a:p>
                    <a:p>
                      <a:r>
                        <a:rPr lang="en-US" sz="1000" dirty="0" err="1"/>
                        <a:t>EnergySavingMode</a:t>
                      </a:r>
                      <a:r>
                        <a:rPr lang="en-US" sz="1000" dirty="0"/>
                        <a:t>: Intensity of activation of energy-saving mechanisms</a:t>
                      </a:r>
                    </a:p>
                    <a:p>
                      <a:br>
                        <a:rPr lang="en-US" sz="1000" dirty="0"/>
                      </a:br>
                      <a:r>
                        <a:rPr lang="en-US" sz="1000" b="1" dirty="0"/>
                        <a:t>3. ECstat.csv – Energy Consumption</a:t>
                      </a:r>
                    </a:p>
                    <a:p>
                      <a:r>
                        <a:rPr lang="en-US" sz="1000" dirty="0"/>
                        <a:t>Contains hourly measurements of energy consumption per base station.</a:t>
                      </a:r>
                    </a:p>
                    <a:p>
                      <a:r>
                        <a:rPr lang="en-US" sz="1000" dirty="0"/>
                        <a:t>Fields:</a:t>
                      </a:r>
                    </a:p>
                    <a:p>
                      <a:r>
                        <a:rPr lang="en-US" sz="1000" dirty="0"/>
                        <a:t>Time: Timestamp of the measurement</a:t>
                      </a:r>
                    </a:p>
                    <a:p>
                      <a:r>
                        <a:rPr lang="en-US" sz="1000" dirty="0"/>
                        <a:t>BS: Identifier of the base station</a:t>
                      </a:r>
                    </a:p>
                    <a:p>
                      <a:r>
                        <a:rPr lang="en-US" sz="1000" dirty="0"/>
                        <a:t>Energy: Energy consumption of the base station</a:t>
                      </a:r>
                    </a:p>
                    <a:p>
                      <a:br>
                        <a:rPr lang="en-US" sz="1000" dirty="0"/>
                      </a:br>
                      <a:r>
                        <a:rPr lang="en-US" sz="1000" b="1" dirty="0"/>
                        <a:t>Data Summary</a:t>
                      </a:r>
                    </a:p>
                    <a:p>
                      <a:r>
                        <a:rPr lang="en-US" sz="1000" dirty="0"/>
                        <a:t>Measurement period: 8 days</a:t>
                      </a:r>
                    </a:p>
                    <a:p>
                      <a:r>
                        <a:rPr lang="en-US" sz="1000" dirty="0"/>
                        <a:t>Number of RRUs/AAUs: &gt; 1,000</a:t>
                      </a:r>
                    </a:p>
                    <a:p>
                      <a:r>
                        <a:rPr lang="en-US" sz="1000" dirty="0"/>
                        <a:t>Hardware diversity: 12 different product types</a:t>
                      </a:r>
                    </a:p>
                    <a:p>
                      <a:r>
                        <a:rPr lang="en-US" sz="1000" dirty="0"/>
                        <a:t>Granularity: Hour-level measurements for load, counters, and energy consumption</a:t>
                      </a:r>
                    </a:p>
                  </a:txBody>
                  <a:tcPr marL="9360" marR="9360" marT="9360" marB="0"/>
                </a:tc>
                <a:extLst>
                  <a:ext uri="{0D108BD9-81ED-4DB2-BD59-A6C34878D82A}">
                    <a16:rowId xmlns:a16="http://schemas.microsoft.com/office/drawing/2014/main" val="4025438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41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51412-DB63-9F05-91BD-683A104A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C478422F-163D-3A5E-E5AD-81D4B87B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7" y="887807"/>
            <a:ext cx="10058400" cy="587584"/>
          </a:xfrm>
        </p:spPr>
        <p:txBody>
          <a:bodyPr/>
          <a:lstStyle/>
          <a:p>
            <a:r>
              <a:rPr lang="en-US" b="1" dirty="0"/>
              <a:t>Datasets [2/2]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32053E-8452-8448-22D3-64FBE5FF6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77168"/>
              </p:ext>
            </p:extLst>
          </p:nvPr>
        </p:nvGraphicFramePr>
        <p:xfrm>
          <a:off x="870459" y="1475391"/>
          <a:ext cx="10463068" cy="383808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614393">
                  <a:extLst>
                    <a:ext uri="{9D8B030D-6E8A-4147-A177-3AD203B41FA5}">
                      <a16:colId xmlns:a16="http://schemas.microsoft.com/office/drawing/2014/main" val="2069381775"/>
                    </a:ext>
                  </a:extLst>
                </a:gridCol>
                <a:gridCol w="897622">
                  <a:extLst>
                    <a:ext uri="{9D8B030D-6E8A-4147-A177-3AD203B41FA5}">
                      <a16:colId xmlns:a16="http://schemas.microsoft.com/office/drawing/2014/main" val="3942785244"/>
                    </a:ext>
                  </a:extLst>
                </a:gridCol>
                <a:gridCol w="595619">
                  <a:extLst>
                    <a:ext uri="{9D8B030D-6E8A-4147-A177-3AD203B41FA5}">
                      <a16:colId xmlns:a16="http://schemas.microsoft.com/office/drawing/2014/main" val="2748736589"/>
                    </a:ext>
                  </a:extLst>
                </a:gridCol>
                <a:gridCol w="782912">
                  <a:extLst>
                    <a:ext uri="{9D8B030D-6E8A-4147-A177-3AD203B41FA5}">
                      <a16:colId xmlns:a16="http://schemas.microsoft.com/office/drawing/2014/main" val="221180147"/>
                    </a:ext>
                  </a:extLst>
                </a:gridCol>
                <a:gridCol w="7572522">
                  <a:extLst>
                    <a:ext uri="{9D8B030D-6E8A-4147-A177-3AD203B41FA5}">
                      <a16:colId xmlns:a16="http://schemas.microsoft.com/office/drawing/2014/main" val="2783752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Dataset / Paper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Type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Network Focus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Publicly Available?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Notes / Link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extLst>
                  <a:ext uri="{0D108BD9-81ED-4DB2-BD59-A6C34878D82A}">
                    <a16:rowId xmlns:a16="http://schemas.microsoft.com/office/drawing/2014/main" val="279136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</a:t>
                      </a: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Derived, public dataset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4G/5G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Yes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</a:rPr>
                        <a:t>5G Energy Consumption Dataset (Kaggle)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000" u="none" strike="noStrike" dirty="0">
                          <a:effectLst/>
                          <a:hlinkClick r:id="rId2"/>
                        </a:rPr>
                        <a:t>https://www.kaggle.com/datasets/nadiatriki/5g-energy-consumption-dataset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extLst>
                  <a:ext uri="{0D108BD9-81ED-4DB2-BD59-A6C34878D82A}">
                    <a16:rowId xmlns:a16="http://schemas.microsoft.com/office/drawing/2014/main" val="222673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</a:t>
                      </a: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</a:rPr>
                        <a:t>Real measurement dataset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4G/5G</a:t>
                      </a: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360" marR="9360" marT="936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hlinkClick r:id="rId3"/>
                        </a:rPr>
                        <a:t>https://github.com/tsinghua-fib-lab/NetData</a:t>
                      </a:r>
                      <a:r>
                        <a:rPr lang="en-US" sz="1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FIB LAB, Tsinghua University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u="none" strike="noStrike" dirty="0">
                          <a:effectLst/>
                        </a:rPr>
                        <a:t>The dataset provides measurement reports, including traffic volume, energy consumption, and base station attributes for city-scale mobile networks. It includes data from over 10,000 4G base stations and 5,000 5G base stations, capturing the complexity of real-world network operations.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u="none" strike="noStrike" dirty="0">
                          <a:effectLst/>
                        </a:rPr>
                        <a:t>To support the research community, we have published a portion of the dataset, including complete record traces of all base stations over one weekday and one weekend.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000" u="none" strike="noStrike" dirty="0">
                        <a:effectLst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Items collected	Description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Base station ID	                          An unique identification for the base station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Cell ID	                          An unique identification for the cell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Timestamp	                          The time the record was gathered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PRB usage ratio	The percentage of the cell's total available physical resource blocks (PRB) that are 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                                                   currently being utilized, measured in %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Traffic volume	                          Average volume of traffic, measured in </a:t>
                      </a:r>
                      <a:r>
                        <a:rPr lang="en-US" sz="1000" u="none" strike="noStrike" dirty="0" err="1">
                          <a:effectLst/>
                        </a:rPr>
                        <a:t>KBytes</a:t>
                      </a:r>
                      <a:endParaRPr lang="en-US" sz="1000" u="none" strike="noStrike" dirty="0">
                        <a:effectLst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# of users	                          Average number of users served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BBU energy	                          Energy consumption of the base station's baseband unit (BBU), measured in Kilo Watt Hours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RRU energy	                          Energy consumption of the cell's remote radio unit (RRU), measured in Kilo Watt Hours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Channel Shutdown time	Average time of the cell is in channel shutdown control, measured in Millisecond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Carrier Shutdown time	Average time of the cell is in carrier shutdown control, measured in Millisecond</a:t>
                      </a: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Deep sleep time	Average time of the cell is in deep sleep mode, measured in Millisecond</a:t>
                      </a:r>
                    </a:p>
                  </a:txBody>
                  <a:tcPr marL="9360" marR="9360" marT="9360" marB="0" anchor="ctr"/>
                </a:tc>
                <a:extLst>
                  <a:ext uri="{0D108BD9-81ED-4DB2-BD59-A6C34878D82A}">
                    <a16:rowId xmlns:a16="http://schemas.microsoft.com/office/drawing/2014/main" val="567545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972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9CD-1242-F149-AB16-9D02E7C8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7D95-D925-3641-A715-DB7630E98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530456"/>
            <a:ext cx="5711810" cy="4601896"/>
          </a:xfrm>
        </p:spPr>
        <p:txBody>
          <a:bodyPr numCol="1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1400" b="1" dirty="0"/>
              <a:t>Build a predictive model to estimate energy consumption of 5G base stations.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Analyze the impact of: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Traffic load and network usage patterns.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Engineering configurations (e.g., number of antennas, transmission power).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Energy-saving methods like sleep modes or adaptive configurations.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Features include: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Traffic volume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Number of connected users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Power configuration settings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Time of day / load profiles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Energy-saving mode status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Target variable: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Energy consumption (in kWh or equivalent metric)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Benefits: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Identifies periods where network can be put in low power, automatically triggers cell switch off, identifies times where certain cells need to be switched back on</a:t>
            </a:r>
          </a:p>
          <a:p>
            <a:pPr lvl="1">
              <a:lnSpc>
                <a:spcPct val="120000"/>
              </a:lnSpc>
            </a:pPr>
            <a:r>
              <a:rPr lang="en-US" sz="1200" dirty="0"/>
              <a:t>Optimize OPEX for the operators retaining good user experience</a:t>
            </a:r>
            <a:endParaRPr lang="en-US" sz="1400" dirty="0"/>
          </a:p>
        </p:txBody>
      </p:sp>
      <p:pic>
        <p:nvPicPr>
          <p:cNvPr id="4102" name="Picture 6" descr="Eco-Friendly Tech Trends: Embracing 5G Efficiency - Green Prophet"/>
          <p:cNvPicPr>
            <a:picLocks noGrp="1" noChangeAspect="1" noChangeArrowheads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84" y="2140587"/>
            <a:ext cx="4589462" cy="256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208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9CD-1242-F149-AB16-9D02E7C8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7D95-D925-3641-A715-DB7630E98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942966"/>
            <a:ext cx="5711810" cy="3070371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b="1" dirty="0"/>
              <a:t>a) Post Energy Saving outcome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Number of Users that could not be handed over to the neighbour cell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Number of Users that faced re-establishment in neighboring cells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Load (PRB usage, Number of Users) on neighboring cells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Duration of sleep</a:t>
            </a:r>
          </a:p>
          <a:p>
            <a:pPr marL="0" indent="0">
              <a:buNone/>
            </a:pPr>
            <a:r>
              <a:rPr lang="en-US" b="1" dirty="0"/>
              <a:t>b) Location (City, Suburban, …)</a:t>
            </a:r>
          </a:p>
          <a:p>
            <a:pPr marL="0" indent="0">
              <a:buNone/>
            </a:pPr>
            <a:r>
              <a:rPr lang="en-US" b="1" dirty="0"/>
              <a:t>c) Time of day</a:t>
            </a:r>
          </a:p>
          <a:p>
            <a:pPr marL="0" indent="0">
              <a:buNone/>
            </a:pPr>
            <a:r>
              <a:rPr lang="en-US" b="1" dirty="0"/>
              <a:t>d) Weather conditions (Temperature, Humidity, …)</a:t>
            </a:r>
          </a:p>
          <a:p>
            <a:pPr marL="0" indent="0">
              <a:buNone/>
            </a:pPr>
            <a:r>
              <a:rPr lang="en-US" b="1" dirty="0"/>
              <a:t>e) Events (Festivals, …)</a:t>
            </a:r>
          </a:p>
        </p:txBody>
      </p:sp>
      <p:pic>
        <p:nvPicPr>
          <p:cNvPr id="5122" name="Picture 2" descr="6G Is Coming: What Will Be The Business Impact?"/>
          <p:cNvPicPr>
            <a:picLocks noGrp="1" noChangeAspect="1" noChangeArrowheads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72" y="2004968"/>
            <a:ext cx="4422828" cy="294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844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– high level WORK AREAS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164" y="1648964"/>
            <a:ext cx="3490262" cy="39627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566" y="1648964"/>
            <a:ext cx="4801016" cy="37341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680" y="561170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Time Series Forecasting → Decision Optimization → Network Control</a:t>
            </a:r>
          </a:p>
        </p:txBody>
      </p:sp>
    </p:spTree>
    <p:extLst>
      <p:ext uri="{BB962C8B-B14F-4D97-AF65-F5344CB8AC3E}">
        <p14:creationId xmlns:p14="http://schemas.microsoft.com/office/powerpoint/2010/main" val="239448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3CC6-0A47-8548-1CB3-95D209E1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EFC9D-3840-1133-EC1E-F37E486A0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call 1</a:t>
            </a:r>
          </a:p>
        </p:txBody>
      </p:sp>
    </p:spTree>
    <p:extLst>
      <p:ext uri="{BB962C8B-B14F-4D97-AF65-F5344CB8AC3E}">
        <p14:creationId xmlns:p14="http://schemas.microsoft.com/office/powerpoint/2010/main" val="3369755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CE3FD3-13C7-CE1A-83AC-F5AA9D1C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"/>
          <a:stretch>
            <a:fillRect/>
          </a:stretch>
        </p:blipFill>
        <p:spPr>
          <a:xfrm>
            <a:off x="1169437" y="1530456"/>
            <a:ext cx="7060163" cy="2639834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5091D85-7FB6-100C-D1D8-0C078BB5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</p:spPr>
        <p:txBody>
          <a:bodyPr anchor="ctr">
            <a:normAutofit/>
          </a:bodyPr>
          <a:lstStyle/>
          <a:p>
            <a:r>
              <a:rPr lang="en-US" dirty="0"/>
              <a:t>Workflow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53B523-010E-27CF-852E-97A2C6665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489886"/>
              </p:ext>
            </p:extLst>
          </p:nvPr>
        </p:nvGraphicFramePr>
        <p:xfrm>
          <a:off x="6710680" y="4372582"/>
          <a:ext cx="4445000" cy="14732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3740052071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3219550922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3174871440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123539741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Aspect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Netop       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FIB LAB 4G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FIB LAB 5G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34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Base Stations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12162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5165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5171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Duration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6 days      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 day each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 day each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3092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Granularity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 hour      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30 min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30 min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3342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Hardware Info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Detailed  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None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None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35541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Energy Saving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ES modes  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Detailed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24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Scale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Medium      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Very Large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Large          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2380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Use Case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Hardware optimization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4G baseline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5G optimization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303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79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0135-2068-0B39-1E6A-6C1F1C8A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E4B695-907F-4CEF-11EA-51359784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– 5G Network Energy Consumption Dataset (Netop)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9600A32-5742-BE0A-C3E8-854720EBBB61}"/>
              </a:ext>
            </a:extLst>
          </p:cNvPr>
          <p:cNvSpPr txBox="1">
            <a:spLocks/>
          </p:cNvSpPr>
          <p:nvPr/>
        </p:nvSpPr>
        <p:spPr>
          <a:xfrm>
            <a:off x="1210235" y="1530456"/>
            <a:ext cx="9945445" cy="4601896"/>
          </a:xfrm>
          <a:prstGeom prst="rect">
            <a:avLst/>
          </a:prstGeom>
        </p:spPr>
        <p:txBody>
          <a:bodyPr numCol="1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55372E-FD64-624E-B42C-5752A6FF2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155910"/>
              </p:ext>
            </p:extLst>
          </p:nvPr>
        </p:nvGraphicFramePr>
        <p:xfrm>
          <a:off x="1210235" y="3565743"/>
          <a:ext cx="9771530" cy="2197100"/>
        </p:xfrm>
        <a:graphic>
          <a:graphicData uri="http://schemas.openxmlformats.org/drawingml/2006/table">
            <a:tbl>
              <a:tblPr/>
              <a:tblGrid>
                <a:gridCol w="386697">
                  <a:extLst>
                    <a:ext uri="{9D8B030D-6E8A-4147-A177-3AD203B41FA5}">
                      <a16:colId xmlns:a16="http://schemas.microsoft.com/office/drawing/2014/main" val="2925221788"/>
                    </a:ext>
                  </a:extLst>
                </a:gridCol>
                <a:gridCol w="2483783">
                  <a:extLst>
                    <a:ext uri="{9D8B030D-6E8A-4147-A177-3AD203B41FA5}">
                      <a16:colId xmlns:a16="http://schemas.microsoft.com/office/drawing/2014/main" val="1716984932"/>
                    </a:ext>
                  </a:extLst>
                </a:gridCol>
                <a:gridCol w="3688492">
                  <a:extLst>
                    <a:ext uri="{9D8B030D-6E8A-4147-A177-3AD203B41FA5}">
                      <a16:colId xmlns:a16="http://schemas.microsoft.com/office/drawing/2014/main" val="725322108"/>
                    </a:ext>
                  </a:extLst>
                </a:gridCol>
                <a:gridCol w="3212558">
                  <a:extLst>
                    <a:ext uri="{9D8B030D-6E8A-4147-A177-3AD203B41FA5}">
                      <a16:colId xmlns:a16="http://schemas.microsoft.com/office/drawing/2014/main" val="334692157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#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Filename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Description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Key Insights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284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`01_energy_time_series.png`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Hourly and daily energy consumption over 6 days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Clear diurnal patterns; daily variation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092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`02_load_time_series.png`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Cell load variation over time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Matches energy patterns; peak hours visible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415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`03_hourly_patterns.png`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Energy and load by hour with peak identification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Peaks at 8-10 AM and 5-7 PM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7847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`04_distributions.png`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Histograms and box plots of energy; load; ES mode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Mostly low-medium load; ES rarely active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1021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`05_correlation_heatmap.png`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Feature correlation matrix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Load-Energy: 0.74; strong relationship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6043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`06_hardware_analysis.png`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Energy/load by RU type; mode; bandwidth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3x energy variation across RU types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9469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`07_energy_saving_analysis.png`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ES mode effectiveness on energy consumption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~15% reduction when ES active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8747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`08_peak_vs_offpeak.png`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Comparison of peak and off-peak hours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Peak hours show 25% higher energy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13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`09_lagged_features.png`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Current vs lagged values for prediction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 autocorrelation; good for forecasting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81586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88D1630-8E89-E70C-8941-C05FA0E1F800}"/>
              </a:ext>
            </a:extLst>
          </p:cNvPr>
          <p:cNvSpPr txBox="1"/>
          <p:nvPr/>
        </p:nvSpPr>
        <p:spPr>
          <a:xfrm>
            <a:off x="1036320" y="1691820"/>
            <a:ext cx="447697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 📊 Size: Medium-scale (816 stations, 72K records)</a:t>
            </a:r>
          </a:p>
          <a:p>
            <a:r>
              <a:rPr lang="en-US" sz="1400" dirty="0"/>
              <a:t>  ⏱️ Temporal: Hourly for 6 days</a:t>
            </a:r>
          </a:p>
          <a:p>
            <a:r>
              <a:rPr lang="en-US" sz="1400" dirty="0"/>
              <a:t>  🔧 Hardware: 12 types, highly diverse</a:t>
            </a:r>
          </a:p>
          <a:p>
            <a:r>
              <a:rPr lang="en-US" sz="1400" dirty="0"/>
              <a:t>  ⚡ Energy: Normalized values (3.59-100)</a:t>
            </a:r>
          </a:p>
          <a:p>
            <a:r>
              <a:rPr lang="en-US" sz="1400" dirty="0"/>
              <a:t>  📈 Load: 0-99.4%, mean 25.5%</a:t>
            </a:r>
          </a:p>
          <a:p>
            <a:r>
              <a:rPr lang="en-US" sz="1400" dirty="0"/>
              <a:t>  💤 ES Modes: Available but underutilized</a:t>
            </a:r>
          </a:p>
          <a:p>
            <a:r>
              <a:rPr lang="en-US" sz="1400" dirty="0"/>
              <a:t>  🎯 Quality: High (real production data)</a:t>
            </a:r>
          </a:p>
        </p:txBody>
      </p:sp>
    </p:spTree>
    <p:extLst>
      <p:ext uri="{BB962C8B-B14F-4D97-AF65-F5344CB8AC3E}">
        <p14:creationId xmlns:p14="http://schemas.microsoft.com/office/powerpoint/2010/main" val="502927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7F0A-8827-14BB-F5B8-B2DF4CE38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065C05-5A71-CA08-5EFF-192E0745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– 5G Network Energy Consumption Dataset (Netop)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DF2D13-C248-A1F7-424F-FBD1D78F8492}"/>
              </a:ext>
            </a:extLst>
          </p:cNvPr>
          <p:cNvSpPr txBox="1">
            <a:spLocks/>
          </p:cNvSpPr>
          <p:nvPr/>
        </p:nvSpPr>
        <p:spPr>
          <a:xfrm>
            <a:off x="1210235" y="1530456"/>
            <a:ext cx="9945445" cy="4601896"/>
          </a:xfrm>
          <a:prstGeom prst="rect">
            <a:avLst/>
          </a:prstGeom>
        </p:spPr>
        <p:txBody>
          <a:bodyPr numCol="1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1E73A-786D-5DC5-BC06-4F48F4326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35" y="1597922"/>
            <a:ext cx="7854396" cy="446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96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C039-0387-A6DC-5B01-4AA6A7ED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68DFF0-6D08-FE9A-1897-3B671100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– 5G Network Energy Consumption Dataset (Netop)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344241E-B3BB-9C2F-A964-C417B8CF83FE}"/>
              </a:ext>
            </a:extLst>
          </p:cNvPr>
          <p:cNvSpPr txBox="1">
            <a:spLocks/>
          </p:cNvSpPr>
          <p:nvPr/>
        </p:nvSpPr>
        <p:spPr>
          <a:xfrm>
            <a:off x="1210235" y="1530456"/>
            <a:ext cx="9945445" cy="4601896"/>
          </a:xfrm>
          <a:prstGeom prst="rect">
            <a:avLst/>
          </a:prstGeom>
        </p:spPr>
        <p:txBody>
          <a:bodyPr numCol="1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B348B-9C60-2391-C0C7-DACE7EAF0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34" y="1530455"/>
            <a:ext cx="10460045" cy="443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76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95D2-E1A8-79B7-FE7D-6179527D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F0D1D6-F148-9DAE-D21B-C5EEEA21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– 5G Network Energy Consumption Dataset (Netop)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0C5C16-7734-9F18-5B84-35819FBC532F}"/>
              </a:ext>
            </a:extLst>
          </p:cNvPr>
          <p:cNvSpPr txBox="1">
            <a:spLocks/>
          </p:cNvSpPr>
          <p:nvPr/>
        </p:nvSpPr>
        <p:spPr>
          <a:xfrm>
            <a:off x="1210235" y="1530456"/>
            <a:ext cx="9945445" cy="4601896"/>
          </a:xfrm>
          <a:prstGeom prst="rect">
            <a:avLst/>
          </a:prstGeom>
        </p:spPr>
        <p:txBody>
          <a:bodyPr numCol="1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A3E3B5-F7A7-116D-C5B8-CCB896A09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229" y="1530455"/>
            <a:ext cx="6389552" cy="454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7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C569-D7D3-A122-C5EE-5EA245944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AE743E-BDE3-79C7-FB6C-1F37E113C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– 5G Network Energy Consumption Dataset (Netop)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EE25C-A912-54D3-6C6C-5C21EC2EF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46" y="1851102"/>
            <a:ext cx="10531550" cy="374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2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DF55-7A4E-B9AD-4772-077CF153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B0032D-2656-D619-968F-FCC62F6D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– 5G Network Energy Consumption Dataset (Netop)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7F5131C-974A-0C3E-49A1-0F27F8A93643}"/>
              </a:ext>
            </a:extLst>
          </p:cNvPr>
          <p:cNvSpPr txBox="1">
            <a:spLocks/>
          </p:cNvSpPr>
          <p:nvPr/>
        </p:nvSpPr>
        <p:spPr>
          <a:xfrm>
            <a:off x="1210235" y="1530456"/>
            <a:ext cx="9945445" cy="4601896"/>
          </a:xfrm>
          <a:prstGeom prst="rect">
            <a:avLst/>
          </a:prstGeom>
        </p:spPr>
        <p:txBody>
          <a:bodyPr numCol="1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F4CE5-0077-A5F0-971E-AF6D91C4F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92" y="1530455"/>
            <a:ext cx="5046213" cy="455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86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5D36-4D4A-FB95-2AA3-C8B98791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B23761-2605-FA72-C380-D1A05B2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SUMMARY – 5G Network Energy Consumption Dataset (Netop)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96BE19-070E-1487-8A93-EBC87F1B7AFD}"/>
              </a:ext>
            </a:extLst>
          </p:cNvPr>
          <p:cNvSpPr txBox="1">
            <a:spLocks/>
          </p:cNvSpPr>
          <p:nvPr/>
        </p:nvSpPr>
        <p:spPr>
          <a:xfrm>
            <a:off x="1210235" y="1530456"/>
            <a:ext cx="9945445" cy="4601896"/>
          </a:xfrm>
          <a:prstGeom prst="rect">
            <a:avLst/>
          </a:prstGeom>
        </p:spPr>
        <p:txBody>
          <a:bodyPr numCol="1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5740A-9FBC-19FE-7E92-BC09A1D257AD}"/>
              </a:ext>
            </a:extLst>
          </p:cNvPr>
          <p:cNvSpPr txBox="1"/>
          <p:nvPr/>
        </p:nvSpPr>
        <p:spPr>
          <a:xfrm>
            <a:off x="1097280" y="1730188"/>
            <a:ext cx="10243073" cy="3792071"/>
          </a:xfrm>
          <a:prstGeom prst="rect">
            <a:avLst/>
          </a:prstGeom>
          <a:noFill/>
        </p:spPr>
        <p:txBody>
          <a:bodyPr wrap="square" numCol="2">
            <a:norm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Load is King (r=0.74)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 load is the strongest predictor of energy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and temporal features are secondary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Hardware Matters Enormously (3x variation)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RU types consume drastically different energy (50-100% difference)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Choosing the right hardware can cut energy in half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Strong Temporal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morning (8-10 AM) and evening (5-7 PM) peaks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hours: 18% more energy than off-peak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predictable 24-hour cycles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Energy Saving Underutilized (15% savings available)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modes only active 3-5% of the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active, they reduce energy by ~15%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Huge optimization opportunity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Excellent Predictability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Lag-1 hour correlation: 0.82-0.85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series models will work very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Short-term forecasting (1-6 hours) highly feasible</a:t>
            </a:r>
          </a:p>
        </p:txBody>
      </p:sp>
    </p:spTree>
    <p:extLst>
      <p:ext uri="{BB962C8B-B14F-4D97-AF65-F5344CB8AC3E}">
        <p14:creationId xmlns:p14="http://schemas.microsoft.com/office/powerpoint/2010/main" val="217458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1AE7-D70E-A92B-0D09-C7CC31CC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9DF14E-3C84-7573-6FEC-D8B67CCB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EDA – FIB LAB 4G Network Visualizations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DE3E9E-30E1-4483-0C09-B93D55CE2683}"/>
              </a:ext>
            </a:extLst>
          </p:cNvPr>
          <p:cNvSpPr txBox="1">
            <a:spLocks/>
          </p:cNvSpPr>
          <p:nvPr/>
        </p:nvSpPr>
        <p:spPr>
          <a:xfrm>
            <a:off x="1210235" y="1530456"/>
            <a:ext cx="9945445" cy="4601896"/>
          </a:xfrm>
          <a:prstGeom prst="rect">
            <a:avLst/>
          </a:prstGeom>
        </p:spPr>
        <p:txBody>
          <a:bodyPr numCol="1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EF889A-0F5B-E0AD-BEE5-B2D658EDAF23}"/>
              </a:ext>
            </a:extLst>
          </p:cNvPr>
          <p:cNvGraphicFramePr>
            <a:graphicFrameLocks noGrp="1"/>
          </p:cNvGraphicFramePr>
          <p:nvPr/>
        </p:nvGraphicFramePr>
        <p:xfrm>
          <a:off x="1210235" y="3828692"/>
          <a:ext cx="7873999" cy="2183130"/>
        </p:xfrm>
        <a:graphic>
          <a:graphicData uri="http://schemas.openxmlformats.org/drawingml/2006/table">
            <a:tbl>
              <a:tblPr/>
              <a:tblGrid>
                <a:gridCol w="330733">
                  <a:extLst>
                    <a:ext uri="{9D8B030D-6E8A-4147-A177-3AD203B41FA5}">
                      <a16:colId xmlns:a16="http://schemas.microsoft.com/office/drawing/2014/main" val="1551152716"/>
                    </a:ext>
                  </a:extLst>
                </a:gridCol>
                <a:gridCol w="2380981">
                  <a:extLst>
                    <a:ext uri="{9D8B030D-6E8A-4147-A177-3AD203B41FA5}">
                      <a16:colId xmlns:a16="http://schemas.microsoft.com/office/drawing/2014/main" val="2686889819"/>
                    </a:ext>
                  </a:extLst>
                </a:gridCol>
                <a:gridCol w="2738653">
                  <a:extLst>
                    <a:ext uri="{9D8B030D-6E8A-4147-A177-3AD203B41FA5}">
                      <a16:colId xmlns:a16="http://schemas.microsoft.com/office/drawing/2014/main" val="534485394"/>
                    </a:ext>
                  </a:extLst>
                </a:gridCol>
                <a:gridCol w="2423632">
                  <a:extLst>
                    <a:ext uri="{9D8B030D-6E8A-4147-A177-3AD203B41FA5}">
                      <a16:colId xmlns:a16="http://schemas.microsoft.com/office/drawing/2014/main" val="277779526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#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Filename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Description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Key Insights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0216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`01_time_series.png`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Energy; PRB usage; users over time (weekday+weekend)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Clear weekday/weekend patterns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1017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`02_weekday_vs_weekend.png`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Traffic pattern comparison by day type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Weekend ~10% lower traffic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3515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`03_hourly_patterns.png`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Diurnal patterns with peak identification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 morning/evening peaks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4817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`04_distributions.png`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BBU/RRU/Total energy; PRB; traffic; users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Right-skewed distributions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182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`05_correlation_heatmap.png`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Feature relationships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PRB-Energy: 0.82; very strong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8444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`06_energy_components.png`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BBU vs RRU energy breakdown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RRU: 56%; BBU: 44% of total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7083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`07_efficiency_metrics.png`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Traffic per PRB/user; energy efficiency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High variance in efficiency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5210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`08_load_vs_energy.png`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Multi-dimensional scatter plots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Non-linear relationships visible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26754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`09_peak_vs_offpeak.png`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Comprehensive comparison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Peak: 1.3x energy; 1.5x traffic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8688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`10_summary_statistics.png`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KPIs and coverage summary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12K+ base stations; 48K+ cells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80534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0B9C02-5FCB-B670-5915-49135D5EB167}"/>
              </a:ext>
            </a:extLst>
          </p:cNvPr>
          <p:cNvGraphicFramePr>
            <a:graphicFrameLocks noGrp="1"/>
          </p:cNvGraphicFramePr>
          <p:nvPr/>
        </p:nvGraphicFramePr>
        <p:xfrm>
          <a:off x="1210235" y="1530455"/>
          <a:ext cx="7874000" cy="2209800"/>
        </p:xfrm>
        <a:graphic>
          <a:graphicData uri="http://schemas.openxmlformats.org/drawingml/2006/table">
            <a:tbl>
              <a:tblPr/>
              <a:tblGrid>
                <a:gridCol w="330200">
                  <a:extLst>
                    <a:ext uri="{9D8B030D-6E8A-4147-A177-3AD203B41FA5}">
                      <a16:colId xmlns:a16="http://schemas.microsoft.com/office/drawing/2014/main" val="163625728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53846183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765047550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324100066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#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Filename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Description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Key Insights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946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`01_time_series.png`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Energy; PRB usage; users over time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Lower PRB usage than 4G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7233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`02_weekday_vs_weekend.png`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Traffic pattern comparison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Similar patterns; higher traffic volumes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348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`03_hourly_patterns.png`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Diurnal patterns with peak identification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Consistent peak hours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949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`04_distributions.png`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BBU/RRU/Total energy; PRB; traffic; users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Higher energy than 4G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0562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`05_correlation_heatmap.png`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Feature relationships including ES intensity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ES intensity: -0.3 with energy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6681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`06_energy_components.png`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BBU vs RRU energy breakdown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RRU: 53%; BBU: 47%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0527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`07_energy_saving_modes.png`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Channel/carrier shutdown; deep sleep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Deep sleep most used (60ms avg)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3155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`08_energy_saving_effectiveness.png`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Impact of ES on energy consumption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ES active: 15-20% energy reduction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03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`09_efficiency_metrics.png`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Traffic per PRB/user; energy efficiency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Higher efficiency than 4G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8708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`10_peak_vs_offpeak.png`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Comparison including ES intensity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ES more active in off-peak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8372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`11_summary_statistics.png`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KPIs; coverage; ES statistics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5K+ base stations; 10% ES active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6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18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921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572397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Light_Sales Pitch_02_Win32_AS_v3" id="{A204E388-A84B-4CC6-98FC-54ED9900B3CD}" vid="{1AF041A9-EA2C-4539-9272-70AF2168FE9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029FA76-0C86-4BF1-99F1-A3115FBFFA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A43D08-F4F9-4D95-9CB2-7DE374416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FAF7B5-E40C-46BE-9C83-DA251FCAE61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3810</Words>
  <Application>Microsoft Office PowerPoint</Application>
  <PresentationFormat>Widescreen</PresentationFormat>
  <Paragraphs>544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 Narrow</vt:lpstr>
      <vt:lpstr>Arial</vt:lpstr>
      <vt:lpstr>Calibri</vt:lpstr>
      <vt:lpstr>Century Gothic</vt:lpstr>
      <vt:lpstr>Wingdings</vt:lpstr>
      <vt:lpstr>RetrospectVTI</vt:lpstr>
      <vt:lpstr>AI Driven 4G/5G Cell-level energy saving</vt:lpstr>
      <vt:lpstr>Guidance call 1</vt:lpstr>
      <vt:lpstr>INTRODUCTION</vt:lpstr>
      <vt:lpstr>AGENDA</vt:lpstr>
      <vt:lpstr>PROBLEM STATEMENT</vt:lpstr>
      <vt:lpstr>Literature survey [28 papers]</vt:lpstr>
      <vt:lpstr>Datasets [1/2]</vt:lpstr>
      <vt:lpstr>Datasets [2/2]</vt:lpstr>
      <vt:lpstr>OBJECTIVES</vt:lpstr>
      <vt:lpstr>POSSIBLE FEATURE ENGINEERING</vt:lpstr>
      <vt:lpstr>Next steps – high level WORK AREAS</vt:lpstr>
      <vt:lpstr>review call 1</vt:lpstr>
      <vt:lpstr>Workflow</vt:lpstr>
      <vt:lpstr>EDA – 5G Network Energy Consumption Dataset (Netop)</vt:lpstr>
      <vt:lpstr>EDA – 5G Network Energy Consumption Dataset (Netop)</vt:lpstr>
      <vt:lpstr>EDA – 5G Network Energy Consumption Dataset (Netop)</vt:lpstr>
      <vt:lpstr>EDA – 5G Network Energy Consumption Dataset (Netop)</vt:lpstr>
      <vt:lpstr>EDA – 5G Network Energy Consumption Dataset (Netop)</vt:lpstr>
      <vt:lpstr>EDA – 5G Network Energy Consumption Dataset (Netop)</vt:lpstr>
      <vt:lpstr>SUMMARY – 5G Network Energy Consumption Dataset (Netop)</vt:lpstr>
      <vt:lpstr>EDA – FIB LAB 4G Network Visualizations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2026-02-07T09:28:12Z</dcterms:created>
  <dcterms:modified xsi:type="dcterms:W3CDTF">2026-02-28T12:26:07Z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